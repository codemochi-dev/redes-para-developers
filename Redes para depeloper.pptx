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Fredoka" panose="020B0604020202020204" charset="0"/>
      <p:regular r:id="rId13"/>
    </p:embeddedFont>
    <p:embeddedFont>
      <p:font typeface="Quicksand" panose="020B0604020202020204" charset="0"/>
      <p:regular r:id="rId14"/>
    </p:embeddedFont>
    <p:embeddedFont>
      <p:font typeface="Quicksand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05478"/>
            <a:chOff x="0" y="0"/>
            <a:chExt cx="4274726" cy="2121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2142"/>
            </a:xfrm>
            <a:custGeom>
              <a:avLst/>
              <a:gdLst/>
              <a:ahLst/>
              <a:cxnLst/>
              <a:rect l="l" t="t" r="r" b="b"/>
              <a:pathLst>
                <a:path w="4274726" h="212142">
                  <a:moveTo>
                    <a:pt x="0" y="0"/>
                  </a:moveTo>
                  <a:lnTo>
                    <a:pt x="4274726" y="0"/>
                  </a:lnTo>
                  <a:lnTo>
                    <a:pt x="4274726" y="212142"/>
                  </a:lnTo>
                  <a:lnTo>
                    <a:pt x="0" y="2121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50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23693"/>
            <a:ext cx="16821326" cy="633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04"/>
              </a:lnSpc>
            </a:pPr>
            <a:r>
              <a:rPr lang="en-US" sz="1230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REDES PARA DEVELOPERS: CONCEPTOS CLAVE Y DEBUGGING.</a:t>
            </a:r>
          </a:p>
        </p:txBody>
      </p:sp>
      <p:sp>
        <p:nvSpPr>
          <p:cNvPr id="6" name="Freeform 6"/>
          <p:cNvSpPr/>
          <p:nvPr/>
        </p:nvSpPr>
        <p:spPr>
          <a:xfrm rot="-2700000">
            <a:off x="10908772" y="3978227"/>
            <a:ext cx="10707063" cy="8458580"/>
          </a:xfrm>
          <a:custGeom>
            <a:avLst/>
            <a:gdLst/>
            <a:ahLst/>
            <a:cxnLst/>
            <a:rect l="l" t="t" r="r" b="b"/>
            <a:pathLst>
              <a:path w="10707063" h="8458580">
                <a:moveTo>
                  <a:pt x="0" y="0"/>
                </a:moveTo>
                <a:lnTo>
                  <a:pt x="10707063" y="0"/>
                </a:lnTo>
                <a:lnTo>
                  <a:pt x="10707063" y="8458580"/>
                </a:lnTo>
                <a:lnTo>
                  <a:pt x="0" y="845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92864" y="1137116"/>
            <a:ext cx="55245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Generation Chile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02790"/>
            <a:ext cx="1776285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LOS 3 PILARES FUNDAMENTALES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350" y="2621480"/>
            <a:ext cx="17248505" cy="6762750"/>
            <a:chOff x="0" y="0"/>
            <a:chExt cx="4542816" cy="17811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2816" cy="1781136"/>
            </a:xfrm>
            <a:custGeom>
              <a:avLst/>
              <a:gdLst/>
              <a:ahLst/>
              <a:cxnLst/>
              <a:rect l="l" t="t" r="r" b="b"/>
              <a:pathLst>
                <a:path w="4542816" h="1781136">
                  <a:moveTo>
                    <a:pt x="0" y="0"/>
                  </a:moveTo>
                  <a:lnTo>
                    <a:pt x="4542816" y="0"/>
                  </a:lnTo>
                  <a:lnTo>
                    <a:pt x="4542816" y="1781136"/>
                  </a:lnTo>
                  <a:lnTo>
                    <a:pt x="0" y="17811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542816" cy="18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6922" y="4329172"/>
            <a:ext cx="16482378" cy="326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518" lvl="1" indent="-357259" algn="ctr">
              <a:lnSpc>
                <a:spcPts val="4964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Modelo OSI: El estándar que describe cómo viaja la información en 7 capas.</a:t>
            </a:r>
          </a:p>
          <a:p>
            <a:pPr marL="714518" lvl="1" indent="-357259" algn="ctr">
              <a:lnSpc>
                <a:spcPts val="4964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DNS: El traductor que convierte nombres (google.com) en IPs (142.250.185.14).</a:t>
            </a:r>
          </a:p>
          <a:p>
            <a:pPr marL="714518" lvl="1" indent="-357259" algn="ctr">
              <a:lnSpc>
                <a:spcPts val="4964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Subredes: Divisiones de una red grande para organizar y proteger el tráfico.</a:t>
            </a:r>
          </a:p>
          <a:p>
            <a:pPr algn="ctr">
              <a:lnSpc>
                <a:spcPts val="5584"/>
              </a:lnSpc>
              <a:spcBef>
                <a:spcPct val="0"/>
              </a:spcBef>
            </a:pPr>
            <a:r>
              <a:rPr lang="en-US" sz="3723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Punto clave: No memorices, entiende que son herramientas para organizar la comunicación.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48749" y="233292"/>
            <a:ext cx="11489535" cy="9025008"/>
            <a:chOff x="0" y="0"/>
            <a:chExt cx="3026050" cy="2376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6051" cy="2376957"/>
            </a:xfrm>
            <a:custGeom>
              <a:avLst/>
              <a:gdLst/>
              <a:ahLst/>
              <a:cxnLst/>
              <a:rect l="l" t="t" r="r" b="b"/>
              <a:pathLst>
                <a:path w="3026051" h="2376957">
                  <a:moveTo>
                    <a:pt x="0" y="0"/>
                  </a:moveTo>
                  <a:lnTo>
                    <a:pt x="3026051" y="0"/>
                  </a:lnTo>
                  <a:lnTo>
                    <a:pt x="3026051" y="2376957"/>
                  </a:lnTo>
                  <a:lnTo>
                    <a:pt x="0" y="23769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26050" cy="2415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00323" y="526318"/>
            <a:ext cx="10786387" cy="5436547"/>
            <a:chOff x="0" y="0"/>
            <a:chExt cx="2840859" cy="1431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0859" cy="1431848"/>
            </a:xfrm>
            <a:custGeom>
              <a:avLst/>
              <a:gdLst/>
              <a:ahLst/>
              <a:cxnLst/>
              <a:rect l="l" t="t" r="r" b="b"/>
              <a:pathLst>
                <a:path w="2840859" h="1431848">
                  <a:moveTo>
                    <a:pt x="0" y="0"/>
                  </a:moveTo>
                  <a:lnTo>
                    <a:pt x="2840859" y="0"/>
                  </a:lnTo>
                  <a:lnTo>
                    <a:pt x="2840859" y="1431848"/>
                  </a:lnTo>
                  <a:lnTo>
                    <a:pt x="0" y="1431848"/>
                  </a:lnTo>
                  <a:close/>
                </a:path>
              </a:pathLst>
            </a:custGeom>
            <a:solidFill>
              <a:srgbClr val="1C01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0859" cy="1469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44228" y="942975"/>
            <a:ext cx="9698577" cy="469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Capa 7 (Aplicación): Lo que tocamos (HTTP, Navegadores).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Capa 4 (Transporte): El orden de llegada (TCP/UDP).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Capa 3 (Red): El GPS de los datos (Direcciones IP).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Capa 1 (Física): El medio físico (Cables, Wi-Fi).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Analogía: Es como enviar una carta: desde que la escribes hasta que viaja por el correo y llega al destino.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31098" y="1690160"/>
            <a:ext cx="5557614" cy="505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79"/>
              </a:lnSpc>
            </a:pPr>
            <a:r>
              <a:rPr lang="en-US" sz="71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EL MODELO OSI EN ACCIÓN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538197" y="6228427"/>
            <a:ext cx="5148513" cy="2851129"/>
            <a:chOff x="0" y="0"/>
            <a:chExt cx="6864683" cy="3801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0" y="0"/>
                  </a:moveTo>
                  <a:lnTo>
                    <a:pt x="2685083" y="0"/>
                  </a:lnTo>
                  <a:lnTo>
                    <a:pt x="2685083" y="3426440"/>
                  </a:lnTo>
                  <a:lnTo>
                    <a:pt x="0" y="342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flipH="1">
              <a:off x="4179601" y="375065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2685082" y="0"/>
                  </a:moveTo>
                  <a:lnTo>
                    <a:pt x="0" y="0"/>
                  </a:lnTo>
                  <a:lnTo>
                    <a:pt x="0" y="3426440"/>
                  </a:lnTo>
                  <a:lnTo>
                    <a:pt x="2685082" y="3426440"/>
                  </a:lnTo>
                  <a:lnTo>
                    <a:pt x="268508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14063" y="3230421"/>
              <a:ext cx="2168723" cy="351169"/>
            </a:xfrm>
            <a:custGeom>
              <a:avLst/>
              <a:gdLst/>
              <a:ahLst/>
              <a:cxnLst/>
              <a:rect l="l" t="t" r="r" b="b"/>
              <a:pathLst>
                <a:path w="2168723" h="351169">
                  <a:moveTo>
                    <a:pt x="0" y="0"/>
                  </a:moveTo>
                  <a:lnTo>
                    <a:pt x="2168722" y="0"/>
                  </a:lnTo>
                  <a:lnTo>
                    <a:pt x="2168722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111152" y="3426440"/>
              <a:ext cx="2117587" cy="351169"/>
            </a:xfrm>
            <a:custGeom>
              <a:avLst/>
              <a:gdLst/>
              <a:ahLst/>
              <a:cxnLst/>
              <a:rect l="l" t="t" r="r" b="b"/>
              <a:pathLst>
                <a:path w="2117587" h="351169">
                  <a:moveTo>
                    <a:pt x="0" y="0"/>
                  </a:moveTo>
                  <a:lnTo>
                    <a:pt x="2117587" y="0"/>
                  </a:lnTo>
                  <a:lnTo>
                    <a:pt x="2117587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 r="-2414"/>
              </a:stretch>
            </a:blipFill>
          </p:spPr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029" y="745181"/>
            <a:ext cx="15478125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LA AGENDA DE INTERNET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048236" y="2166757"/>
            <a:ext cx="12423862" cy="2976743"/>
            <a:chOff x="0" y="0"/>
            <a:chExt cx="3272128" cy="7839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72128" cy="783998"/>
            </a:xfrm>
            <a:custGeom>
              <a:avLst/>
              <a:gdLst/>
              <a:ahLst/>
              <a:cxnLst/>
              <a:rect l="l" t="t" r="r" b="b"/>
              <a:pathLst>
                <a:path w="3272128" h="783998">
                  <a:moveTo>
                    <a:pt x="0" y="0"/>
                  </a:moveTo>
                  <a:lnTo>
                    <a:pt x="3272128" y="0"/>
                  </a:lnTo>
                  <a:lnTo>
                    <a:pt x="3272128" y="783998"/>
                  </a:lnTo>
                  <a:lnTo>
                    <a:pt x="0" y="7839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72128" cy="822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87263" y="2478413"/>
            <a:ext cx="2324175" cy="3381736"/>
          </a:xfrm>
          <a:custGeom>
            <a:avLst/>
            <a:gdLst/>
            <a:ahLst/>
            <a:cxnLst/>
            <a:rect l="l" t="t" r="r" b="b"/>
            <a:pathLst>
              <a:path w="2324175" h="3381736">
                <a:moveTo>
                  <a:pt x="0" y="0"/>
                </a:moveTo>
                <a:lnTo>
                  <a:pt x="2324175" y="0"/>
                </a:lnTo>
                <a:lnTo>
                  <a:pt x="2324175" y="3381736"/>
                </a:lnTo>
                <a:lnTo>
                  <a:pt x="0" y="338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910098" y="5947514"/>
            <a:ext cx="12561999" cy="2923639"/>
            <a:chOff x="0" y="0"/>
            <a:chExt cx="3308510" cy="7700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8510" cy="770012"/>
            </a:xfrm>
            <a:custGeom>
              <a:avLst/>
              <a:gdLst/>
              <a:ahLst/>
              <a:cxnLst/>
              <a:rect l="l" t="t" r="r" b="b"/>
              <a:pathLst>
                <a:path w="3308510" h="770012">
                  <a:moveTo>
                    <a:pt x="0" y="0"/>
                  </a:moveTo>
                  <a:lnTo>
                    <a:pt x="3308510" y="0"/>
                  </a:lnTo>
                  <a:lnTo>
                    <a:pt x="3308510" y="770012"/>
                  </a:lnTo>
                  <a:lnTo>
                    <a:pt x="0" y="770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08510" cy="80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79222" y="2531376"/>
            <a:ext cx="12292875" cy="217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754" lvl="1" indent="-303377" algn="l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P¿Por qué lo usamos? Porque las IPs son difíciles de recordar y pueden cambiar.</a:t>
            </a:r>
          </a:p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Flujo: Usuario → DNS → IP → Servidor → Respuesta</a:t>
            </a:r>
          </a:p>
          <a:p>
            <a:pPr marL="0" lvl="0" indent="0" algn="l">
              <a:lnSpc>
                <a:spcPts val="4815"/>
              </a:lnSpc>
              <a:spcBef>
                <a:spcPct val="0"/>
              </a:spcBef>
            </a:pPr>
            <a:endParaRPr lang="en-US" sz="281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06797" y="6687468"/>
            <a:ext cx="12180467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Dato de valor: Un solo dominio puede apuntar a distintas IPs según la carga o región.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65325" y="6023576"/>
            <a:ext cx="2323927" cy="3381375"/>
          </a:xfrm>
          <a:custGeom>
            <a:avLst/>
            <a:gdLst/>
            <a:ahLst/>
            <a:cxnLst/>
            <a:rect l="l" t="t" r="r" b="b"/>
            <a:pathLst>
              <a:path w="2323927" h="3381375">
                <a:moveTo>
                  <a:pt x="0" y="0"/>
                </a:moveTo>
                <a:lnTo>
                  <a:pt x="2323927" y="0"/>
                </a:lnTo>
                <a:lnTo>
                  <a:pt x="2323927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21480"/>
            <a:ext cx="16467073" cy="6959283"/>
            <a:chOff x="0" y="0"/>
            <a:chExt cx="4337007" cy="18328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7007" cy="1832897"/>
            </a:xfrm>
            <a:custGeom>
              <a:avLst/>
              <a:gdLst/>
              <a:ahLst/>
              <a:cxnLst/>
              <a:rect l="l" t="t" r="r" b="b"/>
              <a:pathLst>
                <a:path w="4337007" h="1832897">
                  <a:moveTo>
                    <a:pt x="0" y="0"/>
                  </a:moveTo>
                  <a:lnTo>
                    <a:pt x="4337007" y="0"/>
                  </a:lnTo>
                  <a:lnTo>
                    <a:pt x="4337007" y="1832897"/>
                  </a:lnTo>
                  <a:lnTo>
                    <a:pt x="0" y="1832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7007" cy="1870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6450" y="3374207"/>
            <a:ext cx="4487419" cy="952500"/>
            <a:chOff x="0" y="0"/>
            <a:chExt cx="1181872" cy="250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872" cy="250864"/>
            </a:xfrm>
            <a:custGeom>
              <a:avLst/>
              <a:gdLst/>
              <a:ahLst/>
              <a:cxnLst/>
              <a:rect l="l" t="t" r="r" b="b"/>
              <a:pathLst>
                <a:path w="1181872" h="250864">
                  <a:moveTo>
                    <a:pt x="0" y="0"/>
                  </a:moveTo>
                  <a:lnTo>
                    <a:pt x="1181872" y="0"/>
                  </a:lnTo>
                  <a:lnTo>
                    <a:pt x="1181872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1872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6450" y="3850457"/>
            <a:ext cx="4488271" cy="5407843"/>
            <a:chOff x="0" y="0"/>
            <a:chExt cx="1182096" cy="1424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2096" cy="1424288"/>
            </a:xfrm>
            <a:custGeom>
              <a:avLst/>
              <a:gdLst/>
              <a:ahLst/>
              <a:cxnLst/>
              <a:rect l="l" t="t" r="r" b="b"/>
              <a:pathLst>
                <a:path w="1182096" h="1424288">
                  <a:moveTo>
                    <a:pt x="0" y="0"/>
                  </a:moveTo>
                  <a:lnTo>
                    <a:pt x="1182096" y="0"/>
                  </a:lnTo>
                  <a:lnTo>
                    <a:pt x="1182096" y="1424288"/>
                  </a:lnTo>
                  <a:lnTo>
                    <a:pt x="0" y="142428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82096" cy="14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90546" y="3374207"/>
            <a:ext cx="4439056" cy="952500"/>
            <a:chOff x="0" y="0"/>
            <a:chExt cx="1169134" cy="250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9134" cy="250864"/>
            </a:xfrm>
            <a:custGeom>
              <a:avLst/>
              <a:gdLst/>
              <a:ahLst/>
              <a:cxnLst/>
              <a:rect l="l" t="t" r="r" b="b"/>
              <a:pathLst>
                <a:path w="1169134" h="250864">
                  <a:moveTo>
                    <a:pt x="0" y="0"/>
                  </a:moveTo>
                  <a:lnTo>
                    <a:pt x="1169134" y="0"/>
                  </a:lnTo>
                  <a:lnTo>
                    <a:pt x="1169134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9134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90546" y="3850457"/>
            <a:ext cx="4439056" cy="5407843"/>
            <a:chOff x="0" y="0"/>
            <a:chExt cx="1169134" cy="1424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9134" cy="1424288"/>
            </a:xfrm>
            <a:custGeom>
              <a:avLst/>
              <a:gdLst/>
              <a:ahLst/>
              <a:cxnLst/>
              <a:rect l="l" t="t" r="r" b="b"/>
              <a:pathLst>
                <a:path w="1169134" h="1424288">
                  <a:moveTo>
                    <a:pt x="0" y="0"/>
                  </a:moveTo>
                  <a:lnTo>
                    <a:pt x="1169134" y="0"/>
                  </a:lnTo>
                  <a:lnTo>
                    <a:pt x="1169134" y="1424288"/>
                  </a:lnTo>
                  <a:lnTo>
                    <a:pt x="0" y="142428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69134" cy="14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77686" y="3374207"/>
            <a:ext cx="4956855" cy="952500"/>
            <a:chOff x="0" y="0"/>
            <a:chExt cx="1305509" cy="250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5509" cy="250864"/>
            </a:xfrm>
            <a:custGeom>
              <a:avLst/>
              <a:gdLst/>
              <a:ahLst/>
              <a:cxnLst/>
              <a:rect l="l" t="t" r="r" b="b"/>
              <a:pathLst>
                <a:path w="1305509" h="250864">
                  <a:moveTo>
                    <a:pt x="0" y="0"/>
                  </a:moveTo>
                  <a:lnTo>
                    <a:pt x="1305509" y="0"/>
                  </a:lnTo>
                  <a:lnTo>
                    <a:pt x="1305509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05509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7686" y="3850457"/>
            <a:ext cx="4956855" cy="5407843"/>
            <a:chOff x="0" y="0"/>
            <a:chExt cx="1305509" cy="1424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05509" cy="1424288"/>
            </a:xfrm>
            <a:custGeom>
              <a:avLst/>
              <a:gdLst/>
              <a:ahLst/>
              <a:cxnLst/>
              <a:rect l="l" t="t" r="r" b="b"/>
              <a:pathLst>
                <a:path w="1305509" h="1424288">
                  <a:moveTo>
                    <a:pt x="0" y="0"/>
                  </a:moveTo>
                  <a:lnTo>
                    <a:pt x="1305509" y="0"/>
                  </a:lnTo>
                  <a:lnTo>
                    <a:pt x="1305509" y="1424288"/>
                  </a:lnTo>
                  <a:lnTo>
                    <a:pt x="0" y="142428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05509" cy="14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305046" y="4656684"/>
            <a:ext cx="1697182" cy="1905000"/>
          </a:xfrm>
          <a:custGeom>
            <a:avLst/>
            <a:gdLst/>
            <a:ahLst/>
            <a:cxnLst/>
            <a:rect l="l" t="t" r="r" b="b"/>
            <a:pathLst>
              <a:path w="1697182" h="1905000">
                <a:moveTo>
                  <a:pt x="0" y="0"/>
                </a:moveTo>
                <a:lnTo>
                  <a:pt x="1697182" y="0"/>
                </a:lnTo>
                <a:lnTo>
                  <a:pt x="169718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114198" y="4355988"/>
            <a:ext cx="1601225" cy="1575023"/>
          </a:xfrm>
          <a:custGeom>
            <a:avLst/>
            <a:gdLst/>
            <a:ahLst/>
            <a:cxnLst/>
            <a:rect l="l" t="t" r="r" b="b"/>
            <a:pathLst>
              <a:path w="1601225" h="1575023">
                <a:moveTo>
                  <a:pt x="0" y="0"/>
                </a:moveTo>
                <a:lnTo>
                  <a:pt x="1601225" y="0"/>
                </a:lnTo>
                <a:lnTo>
                  <a:pt x="1601225" y="1575024"/>
                </a:lnTo>
                <a:lnTo>
                  <a:pt x="0" y="1575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3668510" y="4520605"/>
            <a:ext cx="1288722" cy="1711102"/>
          </a:xfrm>
          <a:custGeom>
            <a:avLst/>
            <a:gdLst/>
            <a:ahLst/>
            <a:cxnLst/>
            <a:rect l="l" t="t" r="r" b="b"/>
            <a:pathLst>
              <a:path w="1288722" h="1711102">
                <a:moveTo>
                  <a:pt x="0" y="0"/>
                </a:moveTo>
                <a:lnTo>
                  <a:pt x="1288722" y="0"/>
                </a:lnTo>
                <a:lnTo>
                  <a:pt x="1288722" y="1711102"/>
                </a:lnTo>
                <a:lnTo>
                  <a:pt x="0" y="1711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0" y="914400"/>
            <a:ext cx="18645858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SUBNETS Y CLOUD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84458" y="3519939"/>
            <a:ext cx="3946620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Proposito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70569" y="3529464"/>
            <a:ext cx="4559032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IP Pública vs Privada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60031" y="3496330"/>
            <a:ext cx="35548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Concepto Pro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63336" y="6301110"/>
            <a:ext cx="3827673" cy="317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7667" lvl="1" indent="-263833" algn="ctr">
              <a:lnSpc>
                <a:spcPts val="3666"/>
              </a:lnSpc>
              <a:buFont typeface="Arial"/>
              <a:buChar char="•"/>
            </a:pPr>
            <a:r>
              <a:rPr lang="en-US" sz="244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Pública:</a:t>
            </a:r>
            <a:r>
              <a:rPr lang="en-US" sz="244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Visible desde internet (tu servidor web).</a:t>
            </a:r>
          </a:p>
          <a:p>
            <a:pPr marL="527667" lvl="1" indent="-263833" algn="ctr">
              <a:lnSpc>
                <a:spcPts val="3666"/>
              </a:lnSpc>
              <a:buFont typeface="Arial"/>
              <a:buChar char="•"/>
            </a:pPr>
            <a:r>
              <a:rPr lang="en-US" sz="244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Privada:</a:t>
            </a:r>
            <a:r>
              <a:rPr lang="en-US" sz="244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Invisible desde fuera, solo local (tu base de datos).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  <a:endParaRPr lang="en-US" sz="2444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196327" y="6741904"/>
            <a:ext cx="4719573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VPC (Virtual Private Cloud) es tu propia red privada en la nube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84458" y="6514059"/>
            <a:ext cx="3951402" cy="130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  <a:spcBef>
                <a:spcPct val="0"/>
              </a:spcBef>
            </a:pPr>
            <a:r>
              <a:rPr lang="en-US" sz="250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Seguridad (aislar partes de la red) y optimización del tráfico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237" y="620247"/>
            <a:ext cx="16553063" cy="7045273"/>
            <a:chOff x="0" y="0"/>
            <a:chExt cx="4359654" cy="1855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9654" cy="1855545"/>
            </a:xfrm>
            <a:custGeom>
              <a:avLst/>
              <a:gdLst/>
              <a:ahLst/>
              <a:cxnLst/>
              <a:rect l="l" t="t" r="r" b="b"/>
              <a:pathLst>
                <a:path w="4359654" h="1855545">
                  <a:moveTo>
                    <a:pt x="0" y="0"/>
                  </a:moveTo>
                  <a:lnTo>
                    <a:pt x="4359654" y="0"/>
                  </a:lnTo>
                  <a:lnTo>
                    <a:pt x="4359654" y="1855545"/>
                  </a:lnTo>
                  <a:lnTo>
                    <a:pt x="0" y="18555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9654" cy="189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5002" y="1781427"/>
            <a:ext cx="6334719" cy="952500"/>
            <a:chOff x="0" y="0"/>
            <a:chExt cx="1668403" cy="250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8403" cy="250864"/>
            </a:xfrm>
            <a:custGeom>
              <a:avLst/>
              <a:gdLst/>
              <a:ahLst/>
              <a:cxnLst/>
              <a:rect l="l" t="t" r="r" b="b"/>
              <a:pathLst>
                <a:path w="1668403" h="250864">
                  <a:moveTo>
                    <a:pt x="0" y="0"/>
                  </a:moveTo>
                  <a:lnTo>
                    <a:pt x="1668403" y="0"/>
                  </a:lnTo>
                  <a:lnTo>
                    <a:pt x="1668403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68403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5002" y="2257677"/>
            <a:ext cx="6334719" cy="4762500"/>
            <a:chOff x="0" y="0"/>
            <a:chExt cx="1668403" cy="1254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68403" cy="1254321"/>
            </a:xfrm>
            <a:custGeom>
              <a:avLst/>
              <a:gdLst/>
              <a:ahLst/>
              <a:cxnLst/>
              <a:rect l="l" t="t" r="r" b="b"/>
              <a:pathLst>
                <a:path w="1668403" h="1254321">
                  <a:moveTo>
                    <a:pt x="0" y="0"/>
                  </a:moveTo>
                  <a:lnTo>
                    <a:pt x="1668403" y="0"/>
                  </a:lnTo>
                  <a:lnTo>
                    <a:pt x="1668403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68403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68026" y="1781427"/>
            <a:ext cx="6762536" cy="952500"/>
            <a:chOff x="0" y="0"/>
            <a:chExt cx="1781080" cy="250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1079" cy="250864"/>
            </a:xfrm>
            <a:custGeom>
              <a:avLst/>
              <a:gdLst/>
              <a:ahLst/>
              <a:cxnLst/>
              <a:rect l="l" t="t" r="r" b="b"/>
              <a:pathLst>
                <a:path w="1781079" h="250864">
                  <a:moveTo>
                    <a:pt x="0" y="0"/>
                  </a:moveTo>
                  <a:lnTo>
                    <a:pt x="1781079" y="0"/>
                  </a:lnTo>
                  <a:lnTo>
                    <a:pt x="1781079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81080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68026" y="2257677"/>
            <a:ext cx="6762536" cy="4762500"/>
            <a:chOff x="0" y="0"/>
            <a:chExt cx="1781080" cy="12543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1079" cy="1254321"/>
            </a:xfrm>
            <a:custGeom>
              <a:avLst/>
              <a:gdLst/>
              <a:ahLst/>
              <a:cxnLst/>
              <a:rect l="l" t="t" r="r" b="b"/>
              <a:pathLst>
                <a:path w="1781079" h="1254321">
                  <a:moveTo>
                    <a:pt x="0" y="0"/>
                  </a:moveTo>
                  <a:lnTo>
                    <a:pt x="1781079" y="0"/>
                  </a:lnTo>
                  <a:lnTo>
                    <a:pt x="1781079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81080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3511421" y="2896451"/>
            <a:ext cx="1488376" cy="1657098"/>
          </a:xfrm>
          <a:custGeom>
            <a:avLst/>
            <a:gdLst/>
            <a:ahLst/>
            <a:cxnLst/>
            <a:rect l="l" t="t" r="r" b="b"/>
            <a:pathLst>
              <a:path w="1488376" h="1657098">
                <a:moveTo>
                  <a:pt x="0" y="0"/>
                </a:moveTo>
                <a:lnTo>
                  <a:pt x="1488375" y="0"/>
                </a:lnTo>
                <a:lnTo>
                  <a:pt x="1488375" y="1657098"/>
                </a:lnTo>
                <a:lnTo>
                  <a:pt x="0" y="165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098022" y="2896451"/>
            <a:ext cx="1697182" cy="1905000"/>
          </a:xfrm>
          <a:custGeom>
            <a:avLst/>
            <a:gdLst/>
            <a:ahLst/>
            <a:cxnLst/>
            <a:rect l="l" t="t" r="r" b="b"/>
            <a:pathLst>
              <a:path w="1697182" h="1905000">
                <a:moveTo>
                  <a:pt x="0" y="0"/>
                </a:moveTo>
                <a:lnTo>
                  <a:pt x="1697182" y="0"/>
                </a:lnTo>
                <a:lnTo>
                  <a:pt x="169718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08807" y="1927159"/>
            <a:ext cx="5837408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Tabla de Diagnóstico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1690" y="1927159"/>
            <a:ext cx="5559349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Orden recomendado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5002" y="4940542"/>
            <a:ext cx="6334719" cy="17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9359" lvl="1" indent="-204680" algn="ctr">
              <a:lnSpc>
                <a:spcPts val="2844"/>
              </a:lnSpc>
              <a:buFont typeface="Arial"/>
              <a:buChar char="•"/>
            </a:pPr>
            <a:r>
              <a:rPr lang="en-US" sz="189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No resuelve dominio: Problema de DNS (revisar configuración o expiración).</a:t>
            </a:r>
          </a:p>
          <a:p>
            <a:pPr marL="409359" lvl="1" indent="-204680" algn="ctr">
              <a:lnSpc>
                <a:spcPts val="2844"/>
              </a:lnSpc>
              <a:buFont typeface="Arial"/>
              <a:buChar char="•"/>
            </a:pPr>
            <a:r>
              <a:rPr lang="en-US" sz="189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Host Unreachable: La IP existe pero no hay ruta (revisar firewall o servidor apagado).</a:t>
            </a:r>
          </a:p>
          <a:p>
            <a:pPr marL="0" lvl="0" indent="0" algn="ctr">
              <a:lnSpc>
                <a:spcPts val="284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Network Error: Error genérico (revisar puertos y logs).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27855" y="5286375"/>
            <a:ext cx="6130790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DNS → Red → Puerto → App → Logs.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7187" y="7732195"/>
            <a:ext cx="1670798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¿POR QUÉ FALLA MI APP? DEBUGGING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263" y="2932871"/>
            <a:ext cx="16440037" cy="7114358"/>
            <a:chOff x="0" y="0"/>
            <a:chExt cx="4329886" cy="1873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9886" cy="1873740"/>
            </a:xfrm>
            <a:custGeom>
              <a:avLst/>
              <a:gdLst/>
              <a:ahLst/>
              <a:cxnLst/>
              <a:rect l="l" t="t" r="r" b="b"/>
              <a:pathLst>
                <a:path w="4329886" h="1873740">
                  <a:moveTo>
                    <a:pt x="0" y="0"/>
                  </a:moveTo>
                  <a:lnTo>
                    <a:pt x="4329886" y="0"/>
                  </a:lnTo>
                  <a:lnTo>
                    <a:pt x="4329886" y="1873740"/>
                  </a:lnTo>
                  <a:lnTo>
                    <a:pt x="0" y="1873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9886" cy="191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5406" y="4347769"/>
            <a:ext cx="3911719" cy="4284562"/>
            <a:chOff x="0" y="0"/>
            <a:chExt cx="5215626" cy="5712749"/>
          </a:xfrm>
        </p:grpSpPr>
        <p:sp>
          <p:nvSpPr>
            <p:cNvPr id="6" name="Freeform 6"/>
            <p:cNvSpPr/>
            <p:nvPr/>
          </p:nvSpPr>
          <p:spPr>
            <a:xfrm>
              <a:off x="0" y="3669203"/>
              <a:ext cx="3175000" cy="2043545"/>
            </a:xfrm>
            <a:custGeom>
              <a:avLst/>
              <a:gdLst/>
              <a:ahLst/>
              <a:cxnLst/>
              <a:rect l="l" t="t" r="r" b="b"/>
              <a:pathLst>
                <a:path w="3175000" h="2043545">
                  <a:moveTo>
                    <a:pt x="0" y="0"/>
                  </a:moveTo>
                  <a:lnTo>
                    <a:pt x="3175000" y="0"/>
                  </a:lnTo>
                  <a:lnTo>
                    <a:pt x="3175000" y="2043546"/>
                  </a:lnTo>
                  <a:lnTo>
                    <a:pt x="0" y="2043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04829" y="0"/>
              <a:ext cx="3210797" cy="4097305"/>
            </a:xfrm>
            <a:custGeom>
              <a:avLst/>
              <a:gdLst/>
              <a:ahLst/>
              <a:cxnLst/>
              <a:rect l="l" t="t" r="r" b="b"/>
              <a:pathLst>
                <a:path w="3210797" h="4097305">
                  <a:moveTo>
                    <a:pt x="0" y="0"/>
                  </a:moveTo>
                  <a:lnTo>
                    <a:pt x="3210797" y="0"/>
                  </a:lnTo>
                  <a:lnTo>
                    <a:pt x="3210797" y="4097305"/>
                  </a:lnTo>
                  <a:lnTo>
                    <a:pt x="0" y="409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1829188">
              <a:off x="1806902" y="3623332"/>
              <a:ext cx="1024316" cy="664874"/>
            </a:xfrm>
            <a:custGeom>
              <a:avLst/>
              <a:gdLst/>
              <a:ahLst/>
              <a:cxnLst/>
              <a:rect l="l" t="t" r="r" b="b"/>
              <a:pathLst>
                <a:path w="1024316" h="664874">
                  <a:moveTo>
                    <a:pt x="0" y="0"/>
                  </a:moveTo>
                  <a:lnTo>
                    <a:pt x="1024316" y="0"/>
                  </a:lnTo>
                  <a:lnTo>
                    <a:pt x="1024316" y="664874"/>
                  </a:lnTo>
                  <a:lnTo>
                    <a:pt x="0" y="66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62015" y="904875"/>
            <a:ext cx="14842226" cy="257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3"/>
              </a:lnSpc>
            </a:pPr>
            <a:r>
              <a:rPr lang="en-US" sz="629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BONUS</a:t>
            </a:r>
          </a:p>
          <a:p>
            <a:pPr algn="r">
              <a:lnSpc>
                <a:spcPts val="12032"/>
              </a:lnSpc>
            </a:pPr>
            <a:endParaRPr lang="en-US" sz="6295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32594" y="3239252"/>
            <a:ext cx="10683580" cy="717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VPC (Virtual Private Cloud): Es tu red privada aislada en la nube; protege tus recursos del acceso público directo.</a:t>
            </a:r>
          </a:p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IP Pública vs. Privada: La IP Pública es tu "cara" al mundo (Frontend), mientras que la IP Privada es para comunicación interna segura (Base de Datos).</a:t>
            </a:r>
          </a:p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Load Balancer: Distribuye el tráfico entre varios servidores para evitar colapsos</a:t>
            </a:r>
          </a:p>
          <a:p>
            <a:pPr algn="l">
              <a:lnSpc>
                <a:spcPts val="5259"/>
              </a:lnSpc>
            </a:pPr>
            <a:endParaRPr lang="en-US" sz="35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5259"/>
              </a:lnSpc>
            </a:pPr>
            <a:endParaRPr lang="en-US" sz="35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Personalizado</PresentationFormat>
  <Paragraphs>36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Quicksand</vt:lpstr>
      <vt:lpstr>Calibri</vt:lpstr>
      <vt:lpstr>Arial</vt:lpstr>
      <vt:lpstr>Fredoka</vt:lpstr>
      <vt:lpstr>Quicksand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Black Modern Gradient Programmer Presentation</dc:title>
  <dc:creator>Valentina Paz</dc:creator>
  <cp:lastModifiedBy>Valentina Paz</cp:lastModifiedBy>
  <cp:revision>2</cp:revision>
  <dcterms:created xsi:type="dcterms:W3CDTF">2006-08-16T00:00:00Z</dcterms:created>
  <dcterms:modified xsi:type="dcterms:W3CDTF">2026-03-26T16:46:28Z</dcterms:modified>
  <dc:identifier>DAHFEMWxN6Y</dc:identifier>
</cp:coreProperties>
</file>